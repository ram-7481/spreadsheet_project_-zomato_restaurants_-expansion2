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8" r:id="rId4"/>
    <p:sldId id="258" r:id="rId5"/>
    <p:sldId id="260" r:id="rId6"/>
    <p:sldId id="266" r:id="rId7"/>
    <p:sldId id="262" r:id="rId8"/>
    <p:sldId id="263" r:id="rId9"/>
    <p:sldId id="264" r:id="rId10"/>
    <p:sldId id="279" r:id="rId11"/>
    <p:sldId id="280" r:id="rId12"/>
    <p:sldId id="281" r:id="rId13"/>
    <p:sldId id="270" r:id="rId14"/>
    <p:sldId id="282" r:id="rId15"/>
    <p:sldId id="261" r:id="rId16"/>
    <p:sldId id="271" r:id="rId17"/>
    <p:sldId id="277" r:id="rId18"/>
    <p:sldId id="275" r:id="rId19"/>
  </p:sldIdLst>
  <p:sldSz cx="9144000" cy="5143500" type="screen16x9"/>
  <p:notesSz cx="6858000" cy="9144000"/>
  <p:embeddedFontLst>
    <p:embeddedFont>
      <p:font typeface="Lato" panose="020F0502020204030203" pitchFamily="3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FdEPDsSS/dksxbJGkPCRYlFsm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33" autoAdjust="0"/>
  </p:normalViewPr>
  <p:slideViewPr>
    <p:cSldViewPr snapToGrid="0">
      <p:cViewPr varScale="1">
        <p:scale>
          <a:sx n="109" d="100"/>
          <a:sy n="109" d="100"/>
        </p:scale>
        <p:origin x="73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Template%20(Zomato)%20Resubmission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ownloads\Template%20(Zomato)%20ram%20kumar17(AutoRecovered)657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ownloads\Template%20(Zomato)%20ram%20kumar17(AutoRecovered)657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Template%20(Zomato)%20Ram%20Resubmission%20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Template%20(Zomato)%20Ram%20Resubmission%20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ownloads\Template%20(Zomato)%20ram%20kumar17(AutoRecovered)657y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Template%20(Zomato)%20Ram%20Resubmission%20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Template%20(Zomato)%20Ram%20Resubmission%20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nny\Desktop\Template%20(Zomato)%20Ram%20Resubmission%20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Resubmission 2.xlsx]Dashboard!PivotTable18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Rating Vs Average of Converted Currency Without Symbol</a:t>
            </a:r>
          </a:p>
        </c:rich>
      </c:tx>
      <c:layout>
        <c:manualLayout>
          <c:xMode val="edge"/>
          <c:yMode val="edge"/>
          <c:x val="0.12121522578984328"/>
          <c:y val="1.80891684907765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 cmpd="sng" algn="ctr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 cmpd="sng" algn="ctr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34925" cap="rnd" cmpd="sng" algn="ctr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Dashboard!$M$173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Dashboard!$L$174:$L$208</c:f>
              <c:strCache>
                <c:ptCount val="34"/>
                <c:pt idx="0">
                  <c:v>1</c:v>
                </c:pt>
                <c:pt idx="1">
                  <c:v>1.8</c:v>
                </c:pt>
                <c:pt idx="2">
                  <c:v>1.9</c:v>
                </c:pt>
                <c:pt idx="3">
                  <c:v>2</c:v>
                </c:pt>
                <c:pt idx="4">
                  <c:v>2.1</c:v>
                </c:pt>
                <c:pt idx="5">
                  <c:v>2.2</c:v>
                </c:pt>
                <c:pt idx="6">
                  <c:v>2.3</c:v>
                </c:pt>
                <c:pt idx="7">
                  <c:v>2.4</c:v>
                </c:pt>
                <c:pt idx="8">
                  <c:v>2.5</c:v>
                </c:pt>
                <c:pt idx="9">
                  <c:v>2.6</c:v>
                </c:pt>
                <c:pt idx="10">
                  <c:v>2.7</c:v>
                </c:pt>
                <c:pt idx="11">
                  <c:v>2.8</c:v>
                </c:pt>
                <c:pt idx="12">
                  <c:v>2.9</c:v>
                </c:pt>
                <c:pt idx="13">
                  <c:v>3</c:v>
                </c:pt>
                <c:pt idx="14">
                  <c:v>3.1</c:v>
                </c:pt>
                <c:pt idx="15">
                  <c:v>3.2</c:v>
                </c:pt>
                <c:pt idx="16">
                  <c:v>3.3</c:v>
                </c:pt>
                <c:pt idx="17">
                  <c:v>3.4</c:v>
                </c:pt>
                <c:pt idx="18">
                  <c:v>3.5</c:v>
                </c:pt>
                <c:pt idx="19">
                  <c:v>3.6</c:v>
                </c:pt>
                <c:pt idx="20">
                  <c:v>3.7</c:v>
                </c:pt>
                <c:pt idx="21">
                  <c:v>3.8</c:v>
                </c:pt>
                <c:pt idx="22">
                  <c:v>3.9</c:v>
                </c:pt>
                <c:pt idx="23">
                  <c:v>4</c:v>
                </c:pt>
                <c:pt idx="24">
                  <c:v>4.1</c:v>
                </c:pt>
                <c:pt idx="25">
                  <c:v>4.2</c:v>
                </c:pt>
                <c:pt idx="26">
                  <c:v>4.3</c:v>
                </c:pt>
                <c:pt idx="27">
                  <c:v>4.4</c:v>
                </c:pt>
                <c:pt idx="28">
                  <c:v>4.5</c:v>
                </c:pt>
                <c:pt idx="29">
                  <c:v>4.6</c:v>
                </c:pt>
                <c:pt idx="30">
                  <c:v>4.7</c:v>
                </c:pt>
                <c:pt idx="31">
                  <c:v>4.8</c:v>
                </c:pt>
                <c:pt idx="32">
                  <c:v>4.9</c:v>
                </c:pt>
                <c:pt idx="33">
                  <c:v>(blank)</c:v>
                </c:pt>
              </c:strCache>
            </c:strRef>
          </c:cat>
          <c:val>
            <c:numRef>
              <c:f>Dashboard!$M$174:$M$208</c:f>
              <c:numCache>
                <c:formatCode>General</c:formatCode>
                <c:ptCount val="34"/>
                <c:pt idx="0">
                  <c:v>346.17597765363126</c:v>
                </c:pt>
                <c:pt idx="1">
                  <c:v>1000</c:v>
                </c:pt>
                <c:pt idx="2">
                  <c:v>375</c:v>
                </c:pt>
                <c:pt idx="3">
                  <c:v>892.85714285714289</c:v>
                </c:pt>
                <c:pt idx="4">
                  <c:v>633.33333333333337</c:v>
                </c:pt>
                <c:pt idx="5">
                  <c:v>675.18518518518522</c:v>
                </c:pt>
                <c:pt idx="6">
                  <c:v>672.97872340425533</c:v>
                </c:pt>
                <c:pt idx="7">
                  <c:v>706.06976744186045</c:v>
                </c:pt>
                <c:pt idx="8">
                  <c:v>609.63302752293578</c:v>
                </c:pt>
                <c:pt idx="9">
                  <c:v>635.72774869109946</c:v>
                </c:pt>
                <c:pt idx="10">
                  <c:v>546.79999999999995</c:v>
                </c:pt>
                <c:pt idx="11">
                  <c:v>483.53968253968253</c:v>
                </c:pt>
                <c:pt idx="12">
                  <c:v>453.29133858267716</c:v>
                </c:pt>
                <c:pt idx="13">
                  <c:v>482.65811965811963</c:v>
                </c:pt>
                <c:pt idx="14">
                  <c:v>525.3131021194605</c:v>
                </c:pt>
                <c:pt idx="15">
                  <c:v>648.7806513409962</c:v>
                </c:pt>
                <c:pt idx="16">
                  <c:v>661.37060041407869</c:v>
                </c:pt>
                <c:pt idx="17">
                  <c:v>700.6458752515091</c:v>
                </c:pt>
                <c:pt idx="18">
                  <c:v>839.9718162839248</c:v>
                </c:pt>
                <c:pt idx="19">
                  <c:v>915.03479212253831</c:v>
                </c:pt>
                <c:pt idx="20">
                  <c:v>1071.4124413145539</c:v>
                </c:pt>
                <c:pt idx="21">
                  <c:v>1264.9205513784461</c:v>
                </c:pt>
                <c:pt idx="22">
                  <c:v>1391.6208955223881</c:v>
                </c:pt>
                <c:pt idx="23">
                  <c:v>1611.9083969465648</c:v>
                </c:pt>
                <c:pt idx="24">
                  <c:v>1489.6715867158671</c:v>
                </c:pt>
                <c:pt idx="25">
                  <c:v>1565.4873271889401</c:v>
                </c:pt>
                <c:pt idx="26">
                  <c:v>1723.1508620689656</c:v>
                </c:pt>
                <c:pt idx="27">
                  <c:v>2069.4704861111113</c:v>
                </c:pt>
                <c:pt idx="28">
                  <c:v>2320.119680851064</c:v>
                </c:pt>
                <c:pt idx="29">
                  <c:v>2025.5865384615386</c:v>
                </c:pt>
                <c:pt idx="30">
                  <c:v>3354.5238095238096</c:v>
                </c:pt>
                <c:pt idx="31">
                  <c:v>2418.12</c:v>
                </c:pt>
                <c:pt idx="32">
                  <c:v>2827.5166666666669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8C-4C8B-A3A4-0F313901F0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517927807"/>
        <c:axId val="517928287"/>
      </c:lineChart>
      <c:catAx>
        <c:axId val="517927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7928287"/>
        <c:crosses val="autoZero"/>
        <c:auto val="1"/>
        <c:lblAlgn val="ctr"/>
        <c:lblOffset val="100"/>
        <c:noMultiLvlLbl val="0"/>
      </c:catAx>
      <c:valAx>
        <c:axId val="5179282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7927807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ram kumar17(AutoRecovered)657y.xlsx]Dashboard!PivotTable13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Country WISE COUNT</a:t>
            </a:r>
          </a:p>
        </c:rich>
      </c:tx>
      <c:layout>
        <c:manualLayout>
          <c:xMode val="edge"/>
          <c:yMode val="edge"/>
          <c:x val="0.19691695562900802"/>
          <c:y val="2.35361251744250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Dashboard!$B$150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Dashboard!$A$151:$A$166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Dashboard!$B$151:$B$166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42-4D1F-83DA-D1420F667A1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99"/>
        <c:axId val="147218047"/>
        <c:axId val="147220447"/>
      </c:barChart>
      <c:catAx>
        <c:axId val="147218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220447"/>
        <c:crosses val="autoZero"/>
        <c:auto val="1"/>
        <c:lblAlgn val="ctr"/>
        <c:lblOffset val="100"/>
        <c:noMultiLvlLbl val="0"/>
      </c:catAx>
      <c:valAx>
        <c:axId val="147220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2180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ram kumar17(AutoRecovered)657y.xlsx]Dashboard!PivotTable21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400" dirty="0"/>
              <a:t>IS_ONLINE_DELIVERY Vs Avg of Rating</a:t>
            </a:r>
          </a:p>
        </c:rich>
      </c:tx>
      <c:layout>
        <c:manualLayout>
          <c:xMode val="edge"/>
          <c:yMode val="edge"/>
          <c:x val="0.25404958125289667"/>
          <c:y val="1.35852814183277E-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905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</c:pivotFmts>
    <c:plotArea>
      <c:layout>
        <c:manualLayout>
          <c:layoutTarget val="inner"/>
          <c:xMode val="edge"/>
          <c:yMode val="edge"/>
          <c:x val="0.170338444749975"/>
          <c:y val="0.25439790032261411"/>
          <c:w val="0.37099476318645469"/>
          <c:h val="0.50848812281741829"/>
        </c:manualLayout>
      </c:layout>
      <c:pieChart>
        <c:varyColors val="1"/>
        <c:ser>
          <c:idx val="0"/>
          <c:order val="0"/>
          <c:tx>
            <c:strRef>
              <c:f>Dashboard!$X$151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EC-4A84-A923-4B07B53E834B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EC-4A84-A923-4B07B53E83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Dashboard!$W$152:$W$154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Dashboard!$X$152:$X$154</c:f>
              <c:numCache>
                <c:formatCode>General</c:formatCode>
                <c:ptCount val="2"/>
                <c:pt idx="0">
                  <c:v>2.8902280130293185</c:v>
                </c:pt>
                <c:pt idx="1">
                  <c:v>3.1823529411764717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EC-4A84-A923-4B07B53E834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Ram Resubmission 2.xlsx]Dashboard!PivotTable17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Top</a:t>
            </a:r>
            <a:r>
              <a:rPr lang="en-US" sz="2000" baseline="0" dirty="0"/>
              <a:t> 10 Cuisines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flip="none" rotWithShape="1"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10800000" scaled="1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flip="none" rotWithShape="1"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10800000" scaled="1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flip="none" rotWithShape="1"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10800000" scaled="1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8319241686942412"/>
          <c:y val="0.12877221982335429"/>
          <c:w val="0.48514622933086077"/>
          <c:h val="0.79591173550923022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Dashboard!$I$170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10800000" scaled="1"/>
            </a:gra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Dashboard!$H$171:$H$181</c:f>
              <c:strCache>
                <c:ptCount val="10"/>
                <c:pt idx="0">
                  <c:v>Bakery</c:v>
                </c:pt>
                <c:pt idx="1">
                  <c:v>Bakery, Desserts</c:v>
                </c:pt>
                <c:pt idx="2">
                  <c:v>Cafe</c:v>
                </c:pt>
                <c:pt idx="3">
                  <c:v>Chinese</c:v>
                </c:pt>
                <c:pt idx="4">
                  <c:v>Fast Food</c:v>
                </c:pt>
                <c:pt idx="5">
                  <c:v>North Indian</c:v>
                </c:pt>
                <c:pt idx="6">
                  <c:v>North Indian, Chinese</c:v>
                </c:pt>
                <c:pt idx="7">
                  <c:v>North Indian, Mughlai</c:v>
                </c:pt>
                <c:pt idx="8">
                  <c:v>North Indian, Mughlai, Chinese</c:v>
                </c:pt>
                <c:pt idx="9">
                  <c:v>Street Food</c:v>
                </c:pt>
              </c:strCache>
            </c:strRef>
          </c:cat>
          <c:val>
            <c:numRef>
              <c:f>Dashboard!$I$171:$I$181</c:f>
              <c:numCache>
                <c:formatCode>General</c:formatCode>
                <c:ptCount val="10"/>
                <c:pt idx="0">
                  <c:v>507.49999999999977</c:v>
                </c:pt>
                <c:pt idx="1">
                  <c:v>448.00000000000028</c:v>
                </c:pt>
                <c:pt idx="2">
                  <c:v>911.39999999999986</c:v>
                </c:pt>
                <c:pt idx="3">
                  <c:v>852.89999999999952</c:v>
                </c:pt>
                <c:pt idx="4">
                  <c:v>875.9000000000002</c:v>
                </c:pt>
                <c:pt idx="5">
                  <c:v>2009.2999999999995</c:v>
                </c:pt>
                <c:pt idx="6">
                  <c:v>1351.5000000000002</c:v>
                </c:pt>
                <c:pt idx="7">
                  <c:v>1004.8</c:v>
                </c:pt>
                <c:pt idx="8">
                  <c:v>538.99999999999989</c:v>
                </c:pt>
                <c:pt idx="9">
                  <c:v>376.10000000000008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C7-4B68-8A72-26DCF41989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gapDepth val="0"/>
        <c:shape val="box"/>
        <c:axId val="895915904"/>
        <c:axId val="895916864"/>
        <c:axId val="0"/>
      </c:bar3DChart>
      <c:catAx>
        <c:axId val="895915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916864"/>
        <c:crosses val="autoZero"/>
        <c:auto val="1"/>
        <c:lblAlgn val="ctr"/>
        <c:lblOffset val="100"/>
        <c:noMultiLvlLbl val="0"/>
      </c:catAx>
      <c:valAx>
        <c:axId val="8959168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915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Ram Resubmission 2.xlsx]Dashboard!PivotTable19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/>
              <a:t>Country Vs Avg price rating</a:t>
            </a:r>
          </a:p>
        </c:rich>
      </c:tx>
      <c:layout>
        <c:manualLayout>
          <c:xMode val="edge"/>
          <c:yMode val="edge"/>
          <c:x val="0.12601960051139555"/>
          <c:y val="1.05173229546402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 w="19050" cap="flat" cmpd="sng" algn="ctr">
          <a:solidFill>
            <a:schemeClr val="tx1">
              <a:lumMod val="25000"/>
              <a:lumOff val="75000"/>
            </a:schemeClr>
          </a:solidFill>
          <a:round/>
        </a:ln>
        <a:effectLst/>
        <a:sp3d contourW="19050">
          <a:contourClr>
            <a:schemeClr val="tx1">
              <a:lumMod val="25000"/>
              <a:lumOff val="7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Dashboard!$B$216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DnDiag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Dashboard!$A$217:$A$233</c:f>
              <c:strCache>
                <c:ptCount val="16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  <c:pt idx="15">
                  <c:v>(blank)</c:v>
                </c:pt>
              </c:strCache>
            </c:strRef>
          </c:cat>
          <c:val>
            <c:numRef>
              <c:f>Dashboard!$B$217:$B$233</c:f>
              <c:numCache>
                <c:formatCode>0.00</c:formatCode>
                <c:ptCount val="16"/>
                <c:pt idx="0">
                  <c:v>2.125</c:v>
                </c:pt>
                <c:pt idx="1">
                  <c:v>3.4</c:v>
                </c:pt>
                <c:pt idx="2">
                  <c:v>2.5</c:v>
                </c:pt>
                <c:pt idx="3">
                  <c:v>1.7216828478964401</c:v>
                </c:pt>
                <c:pt idx="4">
                  <c:v>2.9523809523809526</c:v>
                </c:pt>
                <c:pt idx="5">
                  <c:v>3.15</c:v>
                </c:pt>
                <c:pt idx="6">
                  <c:v>3.3636363636363638</c:v>
                </c:pt>
                <c:pt idx="7">
                  <c:v>3.65</c:v>
                </c:pt>
                <c:pt idx="8">
                  <c:v>3.65</c:v>
                </c:pt>
                <c:pt idx="9">
                  <c:v>3.5833333333333335</c:v>
                </c:pt>
                <c:pt idx="10">
                  <c:v>2.85</c:v>
                </c:pt>
                <c:pt idx="11">
                  <c:v>2.8235294117647061</c:v>
                </c:pt>
                <c:pt idx="12">
                  <c:v>3.2166666666666668</c:v>
                </c:pt>
                <c:pt idx="13">
                  <c:v>2.75</c:v>
                </c:pt>
                <c:pt idx="14">
                  <c:v>2.0460829493087558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44-4308-BD19-259F550166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517822207"/>
        <c:axId val="517839487"/>
        <c:axId val="0"/>
      </c:bar3DChart>
      <c:catAx>
        <c:axId val="517822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7839487"/>
        <c:crosses val="autoZero"/>
        <c:auto val="1"/>
        <c:lblAlgn val="ctr"/>
        <c:lblOffset val="100"/>
        <c:noMultiLvlLbl val="0"/>
      </c:catAx>
      <c:valAx>
        <c:axId val="517839487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7822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ram kumar17(AutoRecovered)657y.xlsx]Dashboard!PivotTable16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Country WISE Avg of VoteS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222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222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 w="22225">
              <a:noFill/>
              <a:round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Dashboard!$E$167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Dashboard!$D$168:$D$184</c:f>
              <c:strCache>
                <c:ptCount val="16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  <c:pt idx="15">
                  <c:v>(blank)</c:v>
                </c:pt>
              </c:strCache>
            </c:strRef>
          </c:cat>
          <c:val>
            <c:numRef>
              <c:f>Dashboard!$E$168:$E$184</c:f>
              <c:numCache>
                <c:formatCode>General</c:formatCode>
                <c:ptCount val="16"/>
                <c:pt idx="0">
                  <c:v>111.41666666666667</c:v>
                </c:pt>
                <c:pt idx="1">
                  <c:v>19.616666666666667</c:v>
                </c:pt>
                <c:pt idx="2">
                  <c:v>103</c:v>
                </c:pt>
                <c:pt idx="3">
                  <c:v>137.21255201109571</c:v>
                </c:pt>
                <c:pt idx="4">
                  <c:v>772.09523809523807</c:v>
                </c:pt>
                <c:pt idx="5">
                  <c:v>243.02500000000001</c:v>
                </c:pt>
                <c:pt idx="6">
                  <c:v>407.40909090909093</c:v>
                </c:pt>
                <c:pt idx="7">
                  <c:v>163.80000000000001</c:v>
                </c:pt>
                <c:pt idx="8">
                  <c:v>31.9</c:v>
                </c:pt>
                <c:pt idx="9">
                  <c:v>315.16666666666669</c:v>
                </c:pt>
                <c:pt idx="10">
                  <c:v>146.44999999999999</c:v>
                </c:pt>
                <c:pt idx="11">
                  <c:v>431.47058823529414</c:v>
                </c:pt>
                <c:pt idx="12">
                  <c:v>493.51666666666665</c:v>
                </c:pt>
                <c:pt idx="13">
                  <c:v>205.48750000000001</c:v>
                </c:pt>
                <c:pt idx="14">
                  <c:v>428.22119815668202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C0-4F5D-B709-2237ED8CEFC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5925984"/>
        <c:axId val="895927904"/>
      </c:lineChart>
      <c:catAx>
        <c:axId val="895925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927904"/>
        <c:crosses val="autoZero"/>
        <c:auto val="1"/>
        <c:lblAlgn val="ctr"/>
        <c:lblOffset val="100"/>
        <c:noMultiLvlLbl val="0"/>
      </c:catAx>
      <c:valAx>
        <c:axId val="89592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92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Ram Resubmission 2.xlsx]Dashboard!PivotTable15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COUNTRY</a:t>
            </a:r>
            <a:r>
              <a:rPr lang="en-US" baseline="0" dirty="0"/>
              <a:t> WISE AVG RATING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</c:pivotFmt>
      <c:pivotFmt>
        <c:idx val="15"/>
      </c:pivotFmt>
      <c:pivotFmt>
        <c:idx val="16"/>
      </c:pivotFmt>
      <c:pivotFmt>
        <c:idx val="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</c:pivotFmt>
      <c:pivotFmt>
        <c:idx val="19"/>
      </c:pivotFmt>
      <c:pivotFmt>
        <c:idx val="20"/>
      </c:pivotFmt>
      <c:pivotFmt>
        <c:idx val="21"/>
      </c:pivotFmt>
      <c:pivotFmt>
        <c:idx val="22"/>
      </c:pivotFmt>
      <c:pivotFmt>
        <c:idx val="23"/>
      </c:pivotFmt>
      <c:pivotFmt>
        <c:idx val="24"/>
      </c:pivotFmt>
      <c:pivotFmt>
        <c:idx val="25"/>
      </c:pivotFmt>
      <c:pivotFmt>
        <c:idx val="26"/>
      </c:pivotFmt>
      <c:pivotFmt>
        <c:idx val="27"/>
      </c:pivotFmt>
      <c:pivotFmt>
        <c:idx val="28"/>
      </c:pivotFmt>
      <c:pivotFmt>
        <c:idx val="29"/>
      </c:pivotFmt>
      <c:pivotFmt>
        <c:idx val="30"/>
      </c:pivotFmt>
      <c:pivotFmt>
        <c:idx val="31"/>
      </c:pivotFmt>
      <c:pivotFmt>
        <c:idx val="32"/>
      </c:pivotFmt>
      <c:pivotFmt>
        <c:idx val="3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</c:pivotFmt>
      <c:pivotFmt>
        <c:idx val="35"/>
      </c:pivotFmt>
      <c:pivotFmt>
        <c:idx val="36"/>
      </c:pivotFmt>
      <c:pivotFmt>
        <c:idx val="37"/>
      </c:pivotFmt>
      <c:pivotFmt>
        <c:idx val="38"/>
      </c:pivotFmt>
      <c:pivotFmt>
        <c:idx val="39"/>
      </c:pivotFmt>
      <c:pivotFmt>
        <c:idx val="40"/>
      </c:pivotFmt>
      <c:pivotFmt>
        <c:idx val="41"/>
      </c:pivotFmt>
      <c:pivotFmt>
        <c:idx val="42"/>
      </c:pivotFmt>
      <c:pivotFmt>
        <c:idx val="43"/>
      </c:pivotFmt>
      <c:pivotFmt>
        <c:idx val="44"/>
      </c:pivotFmt>
      <c:pivotFmt>
        <c:idx val="45"/>
      </c:pivotFmt>
      <c:pivotFmt>
        <c:idx val="46"/>
      </c:pivotFmt>
      <c:pivotFmt>
        <c:idx val="47"/>
      </c:pivotFmt>
      <c:pivotFmt>
        <c:idx val="48"/>
      </c:pivotFmt>
      <c:pivotFmt>
        <c:idx val="4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</c:pivotFmt>
      <c:pivotFmt>
        <c:idx val="51"/>
      </c:pivotFmt>
      <c:pivotFmt>
        <c:idx val="52"/>
      </c:pivotFmt>
      <c:pivotFmt>
        <c:idx val="53"/>
      </c:pivotFmt>
      <c:pivotFmt>
        <c:idx val="54"/>
      </c:pivotFmt>
      <c:pivotFmt>
        <c:idx val="55"/>
      </c:pivotFmt>
      <c:pivotFmt>
        <c:idx val="56"/>
      </c:pivotFmt>
      <c:pivotFmt>
        <c:idx val="57"/>
      </c:pivotFmt>
      <c:pivotFmt>
        <c:idx val="58"/>
      </c:pivotFmt>
      <c:pivotFmt>
        <c:idx val="59"/>
      </c:pivotFmt>
      <c:pivotFmt>
        <c:idx val="60"/>
      </c:pivotFmt>
      <c:pivotFmt>
        <c:idx val="61"/>
      </c:pivotFmt>
      <c:pivotFmt>
        <c:idx val="62"/>
      </c:pivotFmt>
      <c:pivotFmt>
        <c:idx val="63"/>
      </c:pivotFmt>
      <c:pivotFmt>
        <c:idx val="64"/>
      </c:pivotFmt>
      <c:pivotFmt>
        <c:idx val="65"/>
      </c:pivotFmt>
      <c:pivotFmt>
        <c:idx val="6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</c:pivotFmt>
      <c:pivotFmt>
        <c:idx val="68"/>
      </c:pivotFmt>
      <c:pivotFmt>
        <c:idx val="69"/>
      </c:pivotFmt>
      <c:pivotFmt>
        <c:idx val="70"/>
      </c:pivotFmt>
      <c:pivotFmt>
        <c:idx val="71"/>
      </c:pivotFmt>
      <c:pivotFmt>
        <c:idx val="72"/>
      </c:pivotFmt>
      <c:pivotFmt>
        <c:idx val="73"/>
      </c:pivotFmt>
      <c:pivotFmt>
        <c:idx val="74"/>
      </c:pivotFmt>
      <c:pivotFmt>
        <c:idx val="75"/>
      </c:pivotFmt>
      <c:pivotFmt>
        <c:idx val="76"/>
      </c:pivotFmt>
      <c:pivotFmt>
        <c:idx val="77"/>
      </c:pivotFmt>
      <c:pivotFmt>
        <c:idx val="78"/>
      </c:pivotFmt>
      <c:pivotFmt>
        <c:idx val="79"/>
      </c:pivotFmt>
      <c:pivotFmt>
        <c:idx val="80"/>
      </c:pivotFmt>
      <c:pivotFmt>
        <c:idx val="81"/>
      </c:pivotFmt>
      <c:pivotFmt>
        <c:idx val="82"/>
      </c:pivotFmt>
      <c:pivotFmt>
        <c:idx val="8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3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3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3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3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Dashboard!$B$185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23-47C9-AA14-88E95BF40A3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23-47C9-AA14-88E95BF40A3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23-47C9-AA14-88E95BF40A3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23-47C9-AA14-88E95BF40A3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23-47C9-AA14-88E95BF40A3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EC23-47C9-AA14-88E95BF40A3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EC23-47C9-AA14-88E95BF40A3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EC23-47C9-AA14-88E95BF40A33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EC23-47C9-AA14-88E95BF40A33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EC23-47C9-AA14-88E95BF40A33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EC23-47C9-AA14-88E95BF40A33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EC23-47C9-AA14-88E95BF40A33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9-EC23-47C9-AA14-88E95BF40A33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B-EC23-47C9-AA14-88E95BF40A33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D-EC23-47C9-AA14-88E95BF40A33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F-EC23-47C9-AA14-88E95BF40A3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Dashboard!$A$186:$A$202</c:f>
              <c:strCache>
                <c:ptCount val="16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  <c:pt idx="15">
                  <c:v>(blank)</c:v>
                </c:pt>
              </c:strCache>
            </c:strRef>
          </c:cat>
          <c:val>
            <c:numRef>
              <c:f>Dashboard!$B$186:$B$202</c:f>
              <c:numCache>
                <c:formatCode>0.00</c:formatCode>
                <c:ptCount val="16"/>
                <c:pt idx="0">
                  <c:v>3.6583333333333337</c:v>
                </c:pt>
                <c:pt idx="1">
                  <c:v>3.8466666666666667</c:v>
                </c:pt>
                <c:pt idx="2">
                  <c:v>3.5750000000000002</c:v>
                </c:pt>
                <c:pt idx="3">
                  <c:v>2.7705501618122987</c:v>
                </c:pt>
                <c:pt idx="4">
                  <c:v>4.295238095238096</c:v>
                </c:pt>
                <c:pt idx="5">
                  <c:v>4.2624999999999993</c:v>
                </c:pt>
                <c:pt idx="6">
                  <c:v>4.4681818181818187</c:v>
                </c:pt>
                <c:pt idx="7">
                  <c:v>4.0599999999999996</c:v>
                </c:pt>
                <c:pt idx="8">
                  <c:v>3.5750000000000002</c:v>
                </c:pt>
                <c:pt idx="9">
                  <c:v>4.2100000000000009</c:v>
                </c:pt>
                <c:pt idx="10">
                  <c:v>3.87</c:v>
                </c:pt>
                <c:pt idx="11">
                  <c:v>4.3</c:v>
                </c:pt>
                <c:pt idx="12">
                  <c:v>4.2333333333333352</c:v>
                </c:pt>
                <c:pt idx="13">
                  <c:v>4.0999999999999996</c:v>
                </c:pt>
                <c:pt idx="14">
                  <c:v>4.011290322580642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EC23-47C9-AA14-88E95BF40A33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Ram Resubmission 2.xlsx]Dashboard!PivotTable14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/>
              <a:t>Year</a:t>
            </a:r>
            <a:r>
              <a:rPr lang="en-US" sz="2800" baseline="0"/>
              <a:t> wise count</a:t>
            </a:r>
            <a:endParaRPr lang="en-US" sz="2800"/>
          </a:p>
        </c:rich>
      </c:tx>
      <c:layout>
        <c:manualLayout>
          <c:xMode val="edge"/>
          <c:yMode val="edge"/>
          <c:x val="8.1365896042868285E-2"/>
          <c:y val="3.36219978965163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pattFill prst="ltDnDiag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accent1"/>
            </a:solidFill>
          </a:ln>
          <a:effectLst/>
          <a:sp3d>
            <a:contourClr>
              <a:schemeClr val="accen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 w="19050" cap="flat" cmpd="sng" algn="ctr">
          <a:solidFill>
            <a:schemeClr val="tx1">
              <a:lumMod val="25000"/>
              <a:lumOff val="75000"/>
            </a:schemeClr>
          </a:solidFill>
          <a:round/>
        </a:ln>
        <a:effectLst/>
        <a:sp3d contourW="19050">
          <a:contourClr>
            <a:schemeClr val="tx1">
              <a:lumMod val="25000"/>
              <a:lumOff val="7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Dashboard!$H$142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DnDiag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Dashboard!$G$143:$G$154</c:f>
              <c:strCach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#VALUE!</c:v>
                </c:pt>
                <c:pt idx="10">
                  <c:v>(blank)</c:v>
                </c:pt>
              </c:strCache>
            </c:strRef>
          </c:cat>
          <c:val>
            <c:numRef>
              <c:f>Dashboard!$H$143:$H$154</c:f>
              <c:numCache>
                <c:formatCode>General</c:formatCode>
                <c:ptCount val="11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49-4D34-B0DB-C6C534DC52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895912544"/>
        <c:axId val="895914944"/>
        <c:axId val="0"/>
      </c:bar3DChart>
      <c:catAx>
        <c:axId val="89591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914944"/>
        <c:crosses val="autoZero"/>
        <c:auto val="1"/>
        <c:lblAlgn val="ctr"/>
        <c:lblOffset val="100"/>
        <c:noMultiLvlLbl val="0"/>
      </c:catAx>
      <c:valAx>
        <c:axId val="895914944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912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Ram Resubmission 2.xlsx]Dashboard!PivotTable20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HAS_TABLE_BOOKING Vs AVG</a:t>
            </a:r>
            <a:r>
              <a:rPr lang="en-IN" baseline="0" dirty="0"/>
              <a:t> OF RATING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</c:pivotFmt>
      <c:pivotFmt>
        <c:idx val="6"/>
      </c:pivotFmt>
      <c:pivotFmt>
        <c:idx val="7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</c:pivotFmt>
      <c:pivotFmt>
        <c:idx val="9"/>
      </c:pivotFmt>
      <c:pivotFmt>
        <c:idx val="10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</c:pivotFmt>
      <c:pivotFmt>
        <c:idx val="12"/>
      </c:pivotFmt>
      <c:pivotFmt>
        <c:idx val="13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</c:pivotFmt>
      <c:pivotFmt>
        <c:idx val="15"/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</c:pivotFmt>
      <c:pivotFmt>
        <c:idx val="18"/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</c:pivotFmt>
      <c:pivotFmt>
        <c:idx val="21"/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Dashboard!$E$197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37-4C12-8269-E08BF6A7697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37-4C12-8269-E08BF6A769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Dashboard!$D$198:$D$200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Dashboard!$E$198:$E$200</c:f>
              <c:numCache>
                <c:formatCode>0.00</c:formatCode>
                <c:ptCount val="2"/>
                <c:pt idx="0">
                  <c:v>2.8096866436315997</c:v>
                </c:pt>
                <c:pt idx="1">
                  <c:v>3.4825561312607936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37-4C12-8269-E08BF6A7697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382234927733957"/>
          <c:y val="0.40000787614082106"/>
          <c:w val="0.14880237990891057"/>
          <c:h val="0.19420160680498563"/>
        </c:manualLayout>
      </c:layout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 flip="none" rotWithShape="1"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10800000" scaled="1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9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864134713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6864134713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" name="Google Shape;7;p19"/>
          <p:cNvPicPr preferRelativeResize="0"/>
          <p:nvPr/>
        </p:nvPicPr>
        <p:blipFill rotWithShape="1"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4375" y="0"/>
            <a:ext cx="2429625" cy="526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/>
        </p:nvSpPr>
        <p:spPr>
          <a:xfrm>
            <a:off x="5667245" y="4062740"/>
            <a:ext cx="4227604" cy="4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dirty="0"/>
              <a:t>Project :- Analyse the data of Zomato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dirty="0"/>
              <a:t>Restaurant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Submitted by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IN" dirty="0"/>
              <a:t>:- Ram kumar</a:t>
            </a:r>
          </a:p>
        </p:txBody>
      </p:sp>
      <p:sp>
        <p:nvSpPr>
          <p:cNvPr id="55" name="Google Shape;55;p1"/>
          <p:cNvSpPr txBox="1"/>
          <p:nvPr/>
        </p:nvSpPr>
        <p:spPr>
          <a:xfrm>
            <a:off x="-132050" y="179514"/>
            <a:ext cx="69621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800" b="1" dirty="0">
                <a:solidFill>
                  <a:srgbClr val="002060"/>
                </a:solidFill>
              </a:rPr>
              <a:t>Zomato Restaurant Project</a:t>
            </a:r>
            <a:endParaRPr sz="2800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93E6B-5D40-55B4-1538-20D8A3A204D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869794" cy="4353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E03985-5E81-2ECD-096F-C0387D95974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28700"/>
            <a:ext cx="543678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424438" y="3604300"/>
            <a:ext cx="78402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Spreadsheet Project:-</a:t>
            </a:r>
            <a:endParaRPr sz="24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Zomato Restaurants Analysis</a:t>
            </a:r>
            <a:endParaRPr sz="2400" b="1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C4E01-6F7C-7729-5D4D-4606BE31C656}"/>
              </a:ext>
            </a:extLst>
          </p:cNvPr>
          <p:cNvSpPr txBox="1"/>
          <p:nvPr/>
        </p:nvSpPr>
        <p:spPr>
          <a:xfrm>
            <a:off x="5948895" y="3962400"/>
            <a:ext cx="31951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Analyse the data of restaurant</a:t>
            </a:r>
          </a:p>
          <a:p>
            <a:r>
              <a:rPr lang="en-IN" b="1" dirty="0"/>
              <a:t>to grow the business as per rating, </a:t>
            </a:r>
          </a:p>
          <a:p>
            <a:r>
              <a:rPr lang="en-IN" b="1" dirty="0"/>
              <a:t>price range, cuisines,</a:t>
            </a:r>
          </a:p>
          <a:p>
            <a:r>
              <a:rPr lang="en-IN" b="1" dirty="0"/>
              <a:t>area like city or country.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60A89-EC9F-742A-BF7D-90E9F2DA9642}"/>
              </a:ext>
            </a:extLst>
          </p:cNvPr>
          <p:cNvSpPr txBox="1"/>
          <p:nvPr/>
        </p:nvSpPr>
        <p:spPr>
          <a:xfrm>
            <a:off x="424438" y="767545"/>
            <a:ext cx="4572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Agenda  :-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9DB80-5CF1-62E9-26FD-0F726C45912A}"/>
              </a:ext>
            </a:extLst>
          </p:cNvPr>
          <p:cNvSpPr txBox="1"/>
          <p:nvPr/>
        </p:nvSpPr>
        <p:spPr>
          <a:xfrm>
            <a:off x="709961" y="1356016"/>
            <a:ext cx="4572000" cy="1802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Description</a:t>
            </a: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Objective Key Metrics and Visualizations</a:t>
            </a: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Subjective Question for Insights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❏"/>
            </a:pPr>
            <a:endParaRPr lang="en-US" sz="1400" b="0" i="0" u="none" strike="noStrike" cap="none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❏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</a:p>
        </p:txBody>
      </p:sp>
      <p:pic>
        <p:nvPicPr>
          <p:cNvPr id="13" name="Google Shape;68;p3">
            <a:extLst>
              <a:ext uri="{FF2B5EF4-FFF2-40B4-BE49-F238E27FC236}">
                <a16:creationId xmlns:a16="http://schemas.microsoft.com/office/drawing/2014/main" id="{28F75107-68DF-0A49-E249-6C896C21A4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2037" y="367873"/>
            <a:ext cx="305752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0FD7F7-2C5F-C32C-0E81-592EB50063B8}"/>
              </a:ext>
            </a:extLst>
          </p:cNvPr>
          <p:cNvSpPr txBox="1"/>
          <p:nvPr/>
        </p:nvSpPr>
        <p:spPr>
          <a:xfrm>
            <a:off x="0" y="305801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Analyze restaurant data across different countries to identify market trends, customer preferences, and business opportunities for Zomato.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F2DD8-A950-E689-5E8D-2AFD5EE75906}"/>
              </a:ext>
            </a:extLst>
          </p:cNvPr>
          <p:cNvSpPr txBox="1"/>
          <p:nvPr/>
        </p:nvSpPr>
        <p:spPr>
          <a:xfrm>
            <a:off x="4572000" y="3070969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Study the relationship between restaurant ratings, cuisines, pricing, votes, and online delivery services to understand customer behavior.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9B5BD-081C-A9C6-8FEA-898B6D3140E1}"/>
              </a:ext>
            </a:extLst>
          </p:cNvPr>
          <p:cNvSpPr txBox="1"/>
          <p:nvPr/>
        </p:nvSpPr>
        <p:spPr>
          <a:xfrm>
            <a:off x="4766899" y="4280579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Evaluate the impact of table booking and online delivery services on restaurant ratings and customer satisfaction.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508EC-5F78-40BB-DB33-32CD602F92EB}"/>
              </a:ext>
            </a:extLst>
          </p:cNvPr>
          <p:cNvSpPr txBox="1"/>
          <p:nvPr/>
        </p:nvSpPr>
        <p:spPr>
          <a:xfrm>
            <a:off x="0" y="4348800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 data visualization and analytics techniques to support strategic decision-making and improve overall business performance.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CDAF6-7CAB-75FA-345C-7F8674B9026E}"/>
              </a:ext>
            </a:extLst>
          </p:cNvPr>
          <p:cNvSpPr txBox="1"/>
          <p:nvPr/>
        </p:nvSpPr>
        <p:spPr>
          <a:xfrm>
            <a:off x="-10800" y="1633731"/>
            <a:ext cx="458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Zomato aims to analyze restaurant data across multiple countries to understand customer preferences, restaurant performance, pricing trends, and service availability.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CE07D-0F4B-715A-A20A-BD6E3FC89128}"/>
              </a:ext>
            </a:extLst>
          </p:cNvPr>
          <p:cNvSpPr txBox="1"/>
          <p:nvPr/>
        </p:nvSpPr>
        <p:spPr>
          <a:xfrm>
            <a:off x="4572000" y="1633731"/>
            <a:ext cx="4698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objective is to identify high-potential markets, popular cuisines, and factors affecting restaurant ratings and customer engagement for future expansion strategies.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9D262-450F-5A4E-FD77-5A213EADF3BE}"/>
              </a:ext>
            </a:extLst>
          </p:cNvPr>
          <p:cNvSpPr txBox="1"/>
          <p:nvPr/>
        </p:nvSpPr>
        <p:spPr>
          <a:xfrm>
            <a:off x="288442" y="380791"/>
            <a:ext cx="469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41479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/>
        </p:nvSpPr>
        <p:spPr>
          <a:xfrm>
            <a:off x="-83203" y="467999"/>
            <a:ext cx="6723154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Rating v/s Avg of converted without Symbol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85CC4-69C9-EDDC-5CCA-60B64CAB5E37}"/>
              </a:ext>
            </a:extLst>
          </p:cNvPr>
          <p:cNvSpPr txBox="1"/>
          <p:nvPr/>
        </p:nvSpPr>
        <p:spPr>
          <a:xfrm>
            <a:off x="0" y="4039138"/>
            <a:ext cx="58688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The highest average spending is observed around </a:t>
            </a:r>
          </a:p>
          <a:p>
            <a:r>
              <a:rPr lang="en-US" dirty="0"/>
              <a:t>    ratings 4.7–4.9, suggesting strong customer</a:t>
            </a:r>
          </a:p>
          <a:p>
            <a:r>
              <a:rPr lang="en-US" dirty="0"/>
              <a:t>    willingness to pay for better dining experiences.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A7496C9-48DF-4A39-BEBA-537764A753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0925832"/>
              </p:ext>
            </p:extLst>
          </p:nvPr>
        </p:nvGraphicFramePr>
        <p:xfrm>
          <a:off x="4399200" y="1258374"/>
          <a:ext cx="4712400" cy="388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DDD3B62-D346-FD42-48D8-F34891155578}"/>
              </a:ext>
            </a:extLst>
          </p:cNvPr>
          <p:cNvSpPr txBox="1"/>
          <p:nvPr/>
        </p:nvSpPr>
        <p:spPr>
          <a:xfrm>
            <a:off x="0" y="1357789"/>
            <a:ext cx="461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The analysis shows a positive relationship between</a:t>
            </a:r>
          </a:p>
          <a:p>
            <a:r>
              <a:rPr lang="en-US" dirty="0"/>
              <a:t>    restaurant ratings and average converted</a:t>
            </a:r>
          </a:p>
          <a:p>
            <a:r>
              <a:rPr lang="en-US" dirty="0"/>
              <a:t>    currency, indicating that higher-rated restaurants</a:t>
            </a:r>
          </a:p>
          <a:p>
            <a:r>
              <a:rPr lang="en-US" dirty="0"/>
              <a:t>    generally have higher spending levels.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B266D-FB21-87C0-0856-722904D07AD5}"/>
              </a:ext>
            </a:extLst>
          </p:cNvPr>
          <p:cNvSpPr txBox="1"/>
          <p:nvPr/>
        </p:nvSpPr>
        <p:spPr>
          <a:xfrm>
            <a:off x="0" y="2831604"/>
            <a:ext cx="4615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Ratings above 4.0 show a sharp increase in </a:t>
            </a:r>
          </a:p>
          <a:p>
            <a:r>
              <a:rPr lang="en-US" dirty="0"/>
              <a:t>   average converted currency, highlighting premium</a:t>
            </a:r>
          </a:p>
          <a:p>
            <a:r>
              <a:rPr lang="en-US" dirty="0"/>
              <a:t>   pricing for highly rated restaurants.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/>
        </p:nvSpPr>
        <p:spPr>
          <a:xfrm>
            <a:off x="3754209" y="1375824"/>
            <a:ext cx="4536000" cy="4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4824111" y="1258162"/>
            <a:ext cx="4407000" cy="4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>
              <a:lnSpc>
                <a:spcPct val="115000"/>
              </a:lnSpc>
              <a:buClr>
                <a:schemeClr val="dk1"/>
              </a:buClr>
              <a:buSzPts val="1300"/>
            </a:pPr>
            <a:endParaRPr lang="en-US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-379590" y="-7648"/>
            <a:ext cx="81003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q"/>
            </a:pP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9;p5">
            <a:extLst>
              <a:ext uri="{FF2B5EF4-FFF2-40B4-BE49-F238E27FC236}">
                <a16:creationId xmlns:a16="http://schemas.microsoft.com/office/drawing/2014/main" id="{51AA9D4B-B8D8-33FB-F1CA-09D6E831BF97}"/>
              </a:ext>
            </a:extLst>
          </p:cNvPr>
          <p:cNvSpPr txBox="1"/>
          <p:nvPr/>
        </p:nvSpPr>
        <p:spPr>
          <a:xfrm flipV="1">
            <a:off x="3601809" y="5699824"/>
            <a:ext cx="1056591" cy="6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79;p5">
            <a:extLst>
              <a:ext uri="{FF2B5EF4-FFF2-40B4-BE49-F238E27FC236}">
                <a16:creationId xmlns:a16="http://schemas.microsoft.com/office/drawing/2014/main" id="{F99CA494-3ADD-C611-499F-D6EF07966620}"/>
              </a:ext>
            </a:extLst>
          </p:cNvPr>
          <p:cNvSpPr txBox="1"/>
          <p:nvPr/>
        </p:nvSpPr>
        <p:spPr>
          <a:xfrm>
            <a:off x="5912976" y="2442395"/>
            <a:ext cx="4536000" cy="4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79;p5">
            <a:extLst>
              <a:ext uri="{FF2B5EF4-FFF2-40B4-BE49-F238E27FC236}">
                <a16:creationId xmlns:a16="http://schemas.microsoft.com/office/drawing/2014/main" id="{DB301A0B-50A1-FF3C-BA78-1320B255F36C}"/>
              </a:ext>
            </a:extLst>
          </p:cNvPr>
          <p:cNvSpPr txBox="1"/>
          <p:nvPr/>
        </p:nvSpPr>
        <p:spPr>
          <a:xfrm flipV="1">
            <a:off x="3754209" y="5852224"/>
            <a:ext cx="1056591" cy="6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79;p5">
            <a:extLst>
              <a:ext uri="{FF2B5EF4-FFF2-40B4-BE49-F238E27FC236}">
                <a16:creationId xmlns:a16="http://schemas.microsoft.com/office/drawing/2014/main" id="{3C901209-E7D3-1AEA-99B2-5F2672E55CCA}"/>
              </a:ext>
            </a:extLst>
          </p:cNvPr>
          <p:cNvSpPr txBox="1"/>
          <p:nvPr/>
        </p:nvSpPr>
        <p:spPr>
          <a:xfrm flipV="1">
            <a:off x="3906609" y="6004624"/>
            <a:ext cx="1056591" cy="6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79;p5">
            <a:extLst>
              <a:ext uri="{FF2B5EF4-FFF2-40B4-BE49-F238E27FC236}">
                <a16:creationId xmlns:a16="http://schemas.microsoft.com/office/drawing/2014/main" id="{6A758C2C-1D4A-3F72-82A4-F6E24DA354E8}"/>
              </a:ext>
            </a:extLst>
          </p:cNvPr>
          <p:cNvSpPr txBox="1"/>
          <p:nvPr/>
        </p:nvSpPr>
        <p:spPr>
          <a:xfrm flipV="1">
            <a:off x="4059009" y="6157024"/>
            <a:ext cx="1056591" cy="6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79;p5">
            <a:extLst>
              <a:ext uri="{FF2B5EF4-FFF2-40B4-BE49-F238E27FC236}">
                <a16:creationId xmlns:a16="http://schemas.microsoft.com/office/drawing/2014/main" id="{680D3E1C-4214-44DD-F502-BB7167E894F2}"/>
              </a:ext>
            </a:extLst>
          </p:cNvPr>
          <p:cNvSpPr txBox="1"/>
          <p:nvPr/>
        </p:nvSpPr>
        <p:spPr>
          <a:xfrm flipV="1">
            <a:off x="4211409" y="6309424"/>
            <a:ext cx="1056591" cy="6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79;p5">
            <a:extLst>
              <a:ext uri="{FF2B5EF4-FFF2-40B4-BE49-F238E27FC236}">
                <a16:creationId xmlns:a16="http://schemas.microsoft.com/office/drawing/2014/main" id="{87657253-6172-BFA9-1D5C-F70827BBAE57}"/>
              </a:ext>
            </a:extLst>
          </p:cNvPr>
          <p:cNvSpPr txBox="1"/>
          <p:nvPr/>
        </p:nvSpPr>
        <p:spPr>
          <a:xfrm flipV="1">
            <a:off x="4363809" y="6461824"/>
            <a:ext cx="1056591" cy="6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79;p5">
            <a:extLst>
              <a:ext uri="{FF2B5EF4-FFF2-40B4-BE49-F238E27FC236}">
                <a16:creationId xmlns:a16="http://schemas.microsoft.com/office/drawing/2014/main" id="{16B4BE46-8364-7590-B716-1C956451B49D}"/>
              </a:ext>
            </a:extLst>
          </p:cNvPr>
          <p:cNvSpPr txBox="1"/>
          <p:nvPr/>
        </p:nvSpPr>
        <p:spPr>
          <a:xfrm flipV="1">
            <a:off x="4516209" y="6614224"/>
            <a:ext cx="1056591" cy="6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79;p5">
            <a:extLst>
              <a:ext uri="{FF2B5EF4-FFF2-40B4-BE49-F238E27FC236}">
                <a16:creationId xmlns:a16="http://schemas.microsoft.com/office/drawing/2014/main" id="{C40AD50A-123B-2D52-BE83-570938C7D30F}"/>
              </a:ext>
            </a:extLst>
          </p:cNvPr>
          <p:cNvSpPr txBox="1"/>
          <p:nvPr/>
        </p:nvSpPr>
        <p:spPr>
          <a:xfrm flipV="1">
            <a:off x="4668609" y="6766624"/>
            <a:ext cx="1056591" cy="6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60F67562-340D-471C-9D8A-411A3DEA93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054983"/>
              </p:ext>
            </p:extLst>
          </p:nvPr>
        </p:nvGraphicFramePr>
        <p:xfrm>
          <a:off x="4059009" y="1121862"/>
          <a:ext cx="5025788" cy="397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D6CACD-F960-A1E0-39FB-A222B6650AF2}"/>
              </a:ext>
            </a:extLst>
          </p:cNvPr>
          <p:cNvSpPr txBox="1"/>
          <p:nvPr/>
        </p:nvSpPr>
        <p:spPr>
          <a:xfrm>
            <a:off x="0" y="1385296"/>
            <a:ext cx="45948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Canada has the highest number of restaurants </a:t>
            </a:r>
          </a:p>
          <a:p>
            <a:r>
              <a:rPr lang="en-US" dirty="0"/>
              <a:t>      compared to other countries, showing it as the </a:t>
            </a:r>
          </a:p>
          <a:p>
            <a:r>
              <a:rPr lang="en-US" dirty="0"/>
              <a:t>      dominant market in the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CAE02-4B44-45C4-7252-9FE500B14D05}"/>
              </a:ext>
            </a:extLst>
          </p:cNvPr>
          <p:cNvSpPr txBox="1"/>
          <p:nvPr/>
        </p:nvSpPr>
        <p:spPr>
          <a:xfrm>
            <a:off x="64126" y="130299"/>
            <a:ext cx="75510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Count of Restaurant as per Country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987D8D-E4D3-5C07-2271-3937690E5341}"/>
              </a:ext>
            </a:extLst>
          </p:cNvPr>
          <p:cNvSpPr txBox="1"/>
          <p:nvPr/>
        </p:nvSpPr>
        <p:spPr>
          <a:xfrm>
            <a:off x="0" y="4297528"/>
            <a:ext cx="54160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upward trend in recent years indicates </a:t>
            </a:r>
          </a:p>
          <a:p>
            <a:r>
              <a:rPr lang="en-US" sz="1400" dirty="0"/>
              <a:t>      increasing restaurant expansion opportunities</a:t>
            </a:r>
          </a:p>
          <a:p>
            <a:r>
              <a:rPr lang="en-US" sz="1400" dirty="0"/>
              <a:t>      in selected regions.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486CB-EAB2-F7BB-6FDE-3B84994B4250}"/>
              </a:ext>
            </a:extLst>
          </p:cNvPr>
          <p:cNvSpPr txBox="1"/>
          <p:nvPr/>
        </p:nvSpPr>
        <p:spPr>
          <a:xfrm>
            <a:off x="4340" y="2656746"/>
            <a:ext cx="54160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Restaurant counts across years remained </a:t>
            </a:r>
          </a:p>
          <a:p>
            <a:r>
              <a:rPr lang="en-US" sz="1400" dirty="0"/>
              <a:t>      mostly stable, with slight declines during</a:t>
            </a:r>
          </a:p>
          <a:p>
            <a:r>
              <a:rPr lang="en-US" dirty="0"/>
              <a:t>     </a:t>
            </a:r>
            <a:r>
              <a:rPr lang="en-US" sz="1400" dirty="0"/>
              <a:t> 2012–2016 and growth again in 2017–2018.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/>
        </p:nvSpPr>
        <p:spPr>
          <a:xfrm>
            <a:off x="0" y="3714897"/>
            <a:ext cx="4851939" cy="10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Online Delivery Impact: Restaurants without online delivery: Avg rating ≈ 2.89 Restaurants with online delivery: Avg rating ≈ 3.18.</a:t>
            </a:r>
          </a:p>
          <a:p>
            <a:r>
              <a:rPr lang="en-US" dirty="0"/>
              <a:t>Insight: Online delivery improves customer </a:t>
            </a:r>
          </a:p>
          <a:p>
            <a:r>
              <a:rPr lang="en-US" dirty="0"/>
              <a:t>satisfaction and ratings.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1ACCDD2-6CE2-4818-BD79-E045BFB0B3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7813487"/>
              </p:ext>
            </p:extLst>
          </p:nvPr>
        </p:nvGraphicFramePr>
        <p:xfrm>
          <a:off x="4629794" y="1101818"/>
          <a:ext cx="4514205" cy="4041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F35DC3-2350-16C2-AF39-8AD3CBFA58FE}"/>
              </a:ext>
            </a:extLst>
          </p:cNvPr>
          <p:cNvSpPr txBox="1"/>
          <p:nvPr/>
        </p:nvSpPr>
        <p:spPr>
          <a:xfrm>
            <a:off x="68421" y="147711"/>
            <a:ext cx="7483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 Average rating of </a:t>
            </a:r>
            <a:r>
              <a:rPr lang="en-US" sz="2800" b="1" dirty="0"/>
              <a:t>Is delivering now </a:t>
            </a:r>
          </a:p>
          <a:p>
            <a:r>
              <a:rPr lang="en-US" sz="2800" b="1" dirty="0"/>
              <a:t> 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19B3D-DBDA-97C2-8414-8347F3F125B1}"/>
              </a:ext>
            </a:extLst>
          </p:cNvPr>
          <p:cNvSpPr txBox="1"/>
          <p:nvPr/>
        </p:nvSpPr>
        <p:spPr>
          <a:xfrm>
            <a:off x="0" y="1823582"/>
            <a:ext cx="462979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Booking Impact:</a:t>
            </a:r>
          </a:p>
          <a:p>
            <a:r>
              <a:rPr lang="en-US" dirty="0"/>
              <a:t>      Restaurants without table booking: Avg rating ≈ 2.81</a:t>
            </a:r>
          </a:p>
          <a:p>
            <a:r>
              <a:rPr lang="en-US" dirty="0"/>
              <a:t>      Restaurants with table booking: Avg rating ≈ 3.48.</a:t>
            </a:r>
          </a:p>
          <a:p>
            <a:r>
              <a:rPr lang="en-US" dirty="0"/>
              <a:t>Insight: Table booking has an even stronger </a:t>
            </a:r>
          </a:p>
          <a:p>
            <a:r>
              <a:rPr lang="en-US" dirty="0"/>
              <a:t>positive impact on ratings.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41C7F1C-38F7-2404-51FF-FBB24E057F03}"/>
              </a:ext>
            </a:extLst>
          </p:cNvPr>
          <p:cNvSpPr txBox="1"/>
          <p:nvPr/>
        </p:nvSpPr>
        <p:spPr>
          <a:xfrm>
            <a:off x="5014332" y="275641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808080"/>
                </a:highlight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61FDA-F436-0583-748E-F299F944A3B0}"/>
              </a:ext>
            </a:extLst>
          </p:cNvPr>
          <p:cNvSpPr txBox="1"/>
          <p:nvPr/>
        </p:nvSpPr>
        <p:spPr>
          <a:xfrm>
            <a:off x="84406" y="123585"/>
            <a:ext cx="3677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TOP 10 CUISINES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88DE620-3341-4850-93B1-012F1A3F45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6255597"/>
              </p:ext>
            </p:extLst>
          </p:nvPr>
        </p:nvGraphicFramePr>
        <p:xfrm>
          <a:off x="4129669" y="549962"/>
          <a:ext cx="5014331" cy="4282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FCC8F99-37AF-1D74-D186-A2A6DF10BA6F}"/>
              </a:ext>
            </a:extLst>
          </p:cNvPr>
          <p:cNvSpPr txBox="1"/>
          <p:nvPr/>
        </p:nvSpPr>
        <p:spPr>
          <a:xfrm>
            <a:off x="-7200" y="1395113"/>
            <a:ext cx="479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North Indian cuisine dominates the chart with</a:t>
            </a:r>
          </a:p>
          <a:p>
            <a:r>
              <a:rPr lang="en-US" dirty="0"/>
              <a:t>      the highest popularity score of 2009.3, making</a:t>
            </a:r>
          </a:p>
          <a:p>
            <a:r>
              <a:rPr lang="en-US" dirty="0"/>
              <a:t>      it the most preferred cuisine among customers.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34C512-904F-79E4-8B94-2DB684FD7248}"/>
              </a:ext>
            </a:extLst>
          </p:cNvPr>
          <p:cNvSpPr txBox="1"/>
          <p:nvPr/>
        </p:nvSpPr>
        <p:spPr>
          <a:xfrm>
            <a:off x="-7200" y="4019641"/>
            <a:ext cx="479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Street Food and Bakery-related cuisines have comparatively lower scores, indicating niche but steady customer demand.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9170BF-1DDD-3F2C-D6B9-D3F63A6C0F7E}"/>
              </a:ext>
            </a:extLst>
          </p:cNvPr>
          <p:cNvSpPr txBox="1"/>
          <p:nvPr/>
        </p:nvSpPr>
        <p:spPr>
          <a:xfrm>
            <a:off x="0" y="2697287"/>
            <a:ext cx="479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North Indian–Chinese and North Indian–Mughlai combinations are also highly popular, showing</a:t>
            </a:r>
          </a:p>
          <a:p>
            <a:r>
              <a:rPr lang="en-US" dirty="0"/>
              <a:t>      strong customer interest in fusion cuisines.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76BF12-70D5-BF6B-5ACE-F097E7FAE3F2}"/>
              </a:ext>
            </a:extLst>
          </p:cNvPr>
          <p:cNvSpPr txBox="1"/>
          <p:nvPr/>
        </p:nvSpPr>
        <p:spPr>
          <a:xfrm>
            <a:off x="-31081" y="55345"/>
            <a:ext cx="69805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Average Price Range Analysis (Country-wise)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824B0-AB72-358F-0B57-2444356A7FBB}"/>
              </a:ext>
            </a:extLst>
          </p:cNvPr>
          <p:cNvSpPr txBox="1"/>
          <p:nvPr/>
        </p:nvSpPr>
        <p:spPr>
          <a:xfrm>
            <a:off x="0" y="1463754"/>
            <a:ext cx="46212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Highest price ranges observed in:</a:t>
            </a:r>
          </a:p>
          <a:p>
            <a:r>
              <a:rPr lang="en-IN" dirty="0"/>
              <a:t>      Qatar &amp; Singapore (~3.65), South Africa</a:t>
            </a:r>
          </a:p>
          <a:p>
            <a:r>
              <a:rPr lang="en-IN" dirty="0"/>
              <a:t>      (~3.58), Philippines (~3.36)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BE946-B943-5E9C-3473-8EC3B913C0D7}"/>
              </a:ext>
            </a:extLst>
          </p:cNvPr>
          <p:cNvSpPr txBox="1"/>
          <p:nvPr/>
        </p:nvSpPr>
        <p:spPr>
          <a:xfrm>
            <a:off x="49808" y="2678068"/>
            <a:ext cx="46212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Moderate price range countries:</a:t>
            </a:r>
          </a:p>
          <a:p>
            <a:r>
              <a:rPr lang="en-IN" dirty="0"/>
              <a:t>      Brazil (~3.4), New Zealand (~3.15), UAE</a:t>
            </a:r>
          </a:p>
          <a:p>
            <a:r>
              <a:rPr lang="en-IN" dirty="0"/>
              <a:t>      (~3.21).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A79AE-572B-8F80-9F64-D13D66215447}"/>
              </a:ext>
            </a:extLst>
          </p:cNvPr>
          <p:cNvSpPr txBox="1"/>
          <p:nvPr/>
        </p:nvSpPr>
        <p:spPr>
          <a:xfrm>
            <a:off x="0" y="4134048"/>
            <a:ext cx="46212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Lower price range countries:</a:t>
            </a:r>
          </a:p>
          <a:p>
            <a:r>
              <a:rPr lang="en-IN" dirty="0"/>
              <a:t>      India (~1.72), USA (~2.04), Australia (~2.12).</a:t>
            </a:r>
          </a:p>
          <a:p>
            <a:r>
              <a:rPr lang="en-US" dirty="0"/>
              <a:t>      India has the lowest average price range → </a:t>
            </a:r>
          </a:p>
          <a:p>
            <a:r>
              <a:rPr lang="en-US" dirty="0"/>
              <a:t>      Strong budget-friendly market.</a:t>
            </a:r>
            <a:endParaRPr lang="en-IN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7B0E86A-7146-4D3C-9463-2726B0E481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0867543"/>
              </p:ext>
            </p:extLst>
          </p:nvPr>
        </p:nvGraphicFramePr>
        <p:xfrm>
          <a:off x="3882618" y="851095"/>
          <a:ext cx="5261382" cy="417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A39ED8E-29AA-47BF-BCF2-3C523AD8B9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2955483"/>
              </p:ext>
            </p:extLst>
          </p:nvPr>
        </p:nvGraphicFramePr>
        <p:xfrm>
          <a:off x="3882683" y="1139483"/>
          <a:ext cx="5261319" cy="4004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67558F-4D78-2923-543E-A842D4833D96}"/>
              </a:ext>
            </a:extLst>
          </p:cNvPr>
          <p:cNvSpPr txBox="1"/>
          <p:nvPr/>
        </p:nvSpPr>
        <p:spPr>
          <a:xfrm>
            <a:off x="-43959" y="-23757"/>
            <a:ext cx="69160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 Customer Engagement Analysis (Average Votes by Country)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D350D-A588-0ECD-48CD-CB4A6F290918}"/>
              </a:ext>
            </a:extLst>
          </p:cNvPr>
          <p:cNvSpPr txBox="1"/>
          <p:nvPr/>
        </p:nvSpPr>
        <p:spPr>
          <a:xfrm>
            <a:off x="0" y="1697785"/>
            <a:ext cx="46317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Highest engagement (votes): Indonesia </a:t>
            </a:r>
          </a:p>
          <a:p>
            <a:r>
              <a:rPr lang="en-IN" dirty="0"/>
              <a:t>      (~772), UAE (~493), Turkey (~431), USA</a:t>
            </a:r>
          </a:p>
          <a:p>
            <a:r>
              <a:rPr lang="en-IN" dirty="0"/>
              <a:t>      (~428), Philippines (~407), Strong customer</a:t>
            </a:r>
          </a:p>
          <a:p>
            <a:r>
              <a:rPr lang="en-IN" dirty="0"/>
              <a:t>      interaction &amp; popularity.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423672-B604-2118-A500-D74C79E3452D}"/>
              </a:ext>
            </a:extLst>
          </p:cNvPr>
          <p:cNvSpPr txBox="1"/>
          <p:nvPr/>
        </p:nvSpPr>
        <p:spPr>
          <a:xfrm>
            <a:off x="0" y="3159032"/>
            <a:ext cx="46317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Lower engagement markets:</a:t>
            </a:r>
          </a:p>
          <a:p>
            <a:r>
              <a:rPr lang="en-IN" dirty="0"/>
              <a:t>      Brazil (~19), Singapore (~31), Canada         </a:t>
            </a:r>
          </a:p>
          <a:p>
            <a:r>
              <a:rPr lang="en-IN" dirty="0"/>
              <a:t>      (~103) Lower visibility or fewer active users.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0DEF81-60FE-7545-9B24-CE03229291C5}"/>
              </a:ext>
            </a:extLst>
          </p:cNvPr>
          <p:cNvSpPr txBox="1"/>
          <p:nvPr/>
        </p:nvSpPr>
        <p:spPr>
          <a:xfrm>
            <a:off x="0" y="4404836"/>
            <a:ext cx="43293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Large variation across countries (~20 to 770) Engagement does not always correlate with price.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57A0D89-FC3D-4FCF-8F0F-31DE146A95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7873212"/>
              </p:ext>
            </p:extLst>
          </p:nvPr>
        </p:nvGraphicFramePr>
        <p:xfrm>
          <a:off x="4178105" y="822960"/>
          <a:ext cx="4965811" cy="4320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04F36F-E9AB-89AD-AAD5-66A30DA11FA6}"/>
              </a:ext>
            </a:extLst>
          </p:cNvPr>
          <p:cNvSpPr txBox="1"/>
          <p:nvPr/>
        </p:nvSpPr>
        <p:spPr>
          <a:xfrm>
            <a:off x="-3684" y="2469563"/>
            <a:ext cx="457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Philippines has the highest average</a:t>
            </a:r>
          </a:p>
          <a:p>
            <a:r>
              <a:rPr lang="en-US" dirty="0"/>
              <a:t>       rating share at 8%, while India shows the</a:t>
            </a:r>
          </a:p>
          <a:p>
            <a:r>
              <a:rPr lang="en-US" dirty="0"/>
              <a:t>       lowest contribution at 5%.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46A05-D282-33FD-3FDA-806E7A8743C5}"/>
              </a:ext>
            </a:extLst>
          </p:cNvPr>
          <p:cNvSpPr txBox="1"/>
          <p:nvPr/>
        </p:nvSpPr>
        <p:spPr>
          <a:xfrm>
            <a:off x="-3600" y="1242777"/>
            <a:ext cx="45755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The average restaurant ratings are fairly </a:t>
            </a:r>
          </a:p>
          <a:p>
            <a:r>
              <a:rPr lang="en-US" dirty="0"/>
              <a:t>        </a:t>
            </a:r>
            <a:r>
              <a:rPr lang="en-US" sz="1400" dirty="0"/>
              <a:t>balanced across most countries, with</a:t>
            </a:r>
          </a:p>
          <a:p>
            <a:r>
              <a:rPr lang="en-US" dirty="0"/>
              <a:t>       </a:t>
            </a:r>
            <a:r>
              <a:rPr lang="en-US" sz="1400" dirty="0"/>
              <a:t> ratings generally ranging between 5%</a:t>
            </a:r>
          </a:p>
          <a:p>
            <a:r>
              <a:rPr lang="en-US" dirty="0"/>
              <a:t>       </a:t>
            </a:r>
            <a:r>
              <a:rPr lang="en-US" sz="1400" dirty="0"/>
              <a:t> and 8%.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EF505D-A4BC-2DBB-43B4-02B25AECDF37}"/>
              </a:ext>
            </a:extLst>
          </p:cNvPr>
          <p:cNvSpPr txBox="1"/>
          <p:nvPr/>
        </p:nvSpPr>
        <p:spPr>
          <a:xfrm>
            <a:off x="-1759" y="3797311"/>
            <a:ext cx="457903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Countries like Turkey, Sri Lanka, South Africa, Qatar, UAE, UK, and USA maintain similar</a:t>
            </a:r>
          </a:p>
          <a:p>
            <a:r>
              <a:rPr lang="en-US" dirty="0"/>
              <a:t>      </a:t>
            </a:r>
            <a:r>
              <a:rPr lang="en-US" sz="1400" dirty="0"/>
              <a:t> average ratings, indicating consistent</a:t>
            </a:r>
            <a:r>
              <a:rPr lang="en-US" dirty="0"/>
              <a:t> customer</a:t>
            </a:r>
            <a:endParaRPr lang="en-US" sz="1400" dirty="0"/>
          </a:p>
          <a:p>
            <a:r>
              <a:rPr lang="en-US" dirty="0"/>
              <a:t>      </a:t>
            </a:r>
            <a:r>
              <a:rPr lang="en-US" sz="1400" dirty="0"/>
              <a:t> satisfaction globally.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5DBD1-DE93-BC0B-4230-4EC17BF576A9}"/>
              </a:ext>
            </a:extLst>
          </p:cNvPr>
          <p:cNvSpPr txBox="1"/>
          <p:nvPr/>
        </p:nvSpPr>
        <p:spPr>
          <a:xfrm>
            <a:off x="82053" y="112920"/>
            <a:ext cx="6951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Country wise Average Rating</a:t>
            </a:r>
          </a:p>
        </p:txBody>
      </p:sp>
    </p:spTree>
    <p:extLst>
      <p:ext uri="{BB962C8B-B14F-4D97-AF65-F5344CB8AC3E}">
        <p14:creationId xmlns:p14="http://schemas.microsoft.com/office/powerpoint/2010/main" val="923172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320814-B4C4-B068-9AF7-FED276A2E60B}"/>
              </a:ext>
            </a:extLst>
          </p:cNvPr>
          <p:cNvSpPr txBox="1"/>
          <p:nvPr/>
        </p:nvSpPr>
        <p:spPr>
          <a:xfrm>
            <a:off x="-105507" y="1313452"/>
            <a:ext cx="53105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restaurants remained relatively</a:t>
            </a:r>
          </a:p>
          <a:p>
            <a:r>
              <a:rPr lang="en-US" dirty="0"/>
              <a:t>      stable from 2010 to 2018, with yearly counts</a:t>
            </a:r>
          </a:p>
          <a:p>
            <a:r>
              <a:rPr lang="en-US" dirty="0"/>
              <a:t>      ranging between 1,024 and 1,102.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AAC4B-1AA8-7C79-FBF2-82D15D6613BE}"/>
              </a:ext>
            </a:extLst>
          </p:cNvPr>
          <p:cNvSpPr txBox="1"/>
          <p:nvPr/>
        </p:nvSpPr>
        <p:spPr>
          <a:xfrm>
            <a:off x="344658" y="135402"/>
            <a:ext cx="46423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Year wise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12FA4-0AFF-22C9-C2A7-903458B2F0C8}"/>
              </a:ext>
            </a:extLst>
          </p:cNvPr>
          <p:cNvSpPr txBox="1"/>
          <p:nvPr/>
        </p:nvSpPr>
        <p:spPr>
          <a:xfrm>
            <a:off x="0" y="4269434"/>
            <a:ext cx="46423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total of 9,551 restaurants were analyzed</a:t>
            </a:r>
          </a:p>
          <a:p>
            <a:r>
              <a:rPr lang="en-US" dirty="0"/>
              <a:t>     </a:t>
            </a:r>
            <a:r>
              <a:rPr lang="en-US" sz="1400" dirty="0"/>
              <a:t> across the nine-year period, providing a</a:t>
            </a:r>
          </a:p>
          <a:p>
            <a:r>
              <a:rPr lang="en-US" dirty="0"/>
              <a:t>     </a:t>
            </a:r>
            <a:r>
              <a:rPr lang="en-US" sz="1400" dirty="0"/>
              <a:t> strong dataset for market analysis.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9746DE-CDDC-09F6-1161-ACBC48281CDC}"/>
              </a:ext>
            </a:extLst>
          </p:cNvPr>
          <p:cNvSpPr txBox="1"/>
          <p:nvPr/>
        </p:nvSpPr>
        <p:spPr>
          <a:xfrm>
            <a:off x="0" y="2571750"/>
            <a:ext cx="46423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2018 recorded the highest number of</a:t>
            </a:r>
          </a:p>
          <a:p>
            <a:r>
              <a:rPr lang="en-US" dirty="0"/>
              <a:t>     </a:t>
            </a:r>
            <a:r>
              <a:rPr lang="en-US" sz="1400" dirty="0"/>
              <a:t> restaurants (1,102), showing a gradual</a:t>
            </a:r>
          </a:p>
          <a:p>
            <a:r>
              <a:rPr lang="en-US" sz="1400" dirty="0"/>
              <a:t>      growth trend in recent years.     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45D61E2-1256-40B3-943C-D622807865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5142351"/>
              </p:ext>
            </p:extLst>
          </p:nvPr>
        </p:nvGraphicFramePr>
        <p:xfrm>
          <a:off x="3967089" y="921434"/>
          <a:ext cx="5169881" cy="4086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757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4CB29E2-07AB-4878-9749-9C93D634F9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8318535"/>
              </p:ext>
            </p:extLst>
          </p:nvPr>
        </p:nvGraphicFramePr>
        <p:xfrm>
          <a:off x="4399672" y="808892"/>
          <a:ext cx="4624754" cy="4130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C29F745-DFBB-F708-8738-4619C6EEFA60}"/>
              </a:ext>
            </a:extLst>
          </p:cNvPr>
          <p:cNvSpPr txBox="1"/>
          <p:nvPr/>
        </p:nvSpPr>
        <p:spPr>
          <a:xfrm>
            <a:off x="0" y="1304545"/>
            <a:ext cx="52377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Restaurants offering table booking have a higher </a:t>
            </a:r>
          </a:p>
          <a:p>
            <a:r>
              <a:rPr lang="en-US" dirty="0"/>
              <a:t>   average   rating contribution (55%) compared to</a:t>
            </a:r>
          </a:p>
          <a:p>
            <a:r>
              <a:rPr lang="en-US" dirty="0"/>
              <a:t>   restaurants without table booking (45%).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7B646-AFAF-AA80-A14C-25572D62A3BD}"/>
              </a:ext>
            </a:extLst>
          </p:cNvPr>
          <p:cNvSpPr txBox="1"/>
          <p:nvPr/>
        </p:nvSpPr>
        <p:spPr>
          <a:xfrm>
            <a:off x="0" y="4121224"/>
            <a:ext cx="46247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Providing reservation facilities can help </a:t>
            </a:r>
            <a:r>
              <a:rPr lang="en-US" dirty="0"/>
              <a:t>restaurants </a:t>
            </a:r>
            <a:endParaRPr lang="en-US" sz="1400" dirty="0"/>
          </a:p>
          <a:p>
            <a:r>
              <a:rPr lang="en-US" sz="1400" dirty="0"/>
              <a:t>      Improve ratings and attract more customers.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0BC60-5668-2984-4874-95FCB6B27BE2}"/>
              </a:ext>
            </a:extLst>
          </p:cNvPr>
          <p:cNvSpPr txBox="1"/>
          <p:nvPr/>
        </p:nvSpPr>
        <p:spPr>
          <a:xfrm>
            <a:off x="0" y="2497441"/>
            <a:ext cx="46247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  The data suggests that table booking </a:t>
            </a:r>
            <a:r>
              <a:rPr lang="en-US" dirty="0"/>
              <a:t>services </a:t>
            </a:r>
            <a:endParaRPr lang="en-US" sz="1400" dirty="0"/>
          </a:p>
          <a:p>
            <a:r>
              <a:rPr lang="en-US" dirty="0"/>
              <a:t>    </a:t>
            </a:r>
            <a:r>
              <a:rPr lang="en-US" sz="1400" dirty="0"/>
              <a:t>positively influence customer satisfaction and</a:t>
            </a:r>
          </a:p>
          <a:p>
            <a:r>
              <a:rPr lang="en-US" dirty="0"/>
              <a:t>   </a:t>
            </a:r>
            <a:r>
              <a:rPr lang="en-US" sz="1400" dirty="0"/>
              <a:t> dining experience.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2000EE-9548-2B70-F940-B9EF3FD8A529}"/>
              </a:ext>
            </a:extLst>
          </p:cNvPr>
          <p:cNvSpPr txBox="1"/>
          <p:nvPr/>
        </p:nvSpPr>
        <p:spPr>
          <a:xfrm>
            <a:off x="0" y="157815"/>
            <a:ext cx="6743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Has Table Booking v/s Average of Rating</a:t>
            </a:r>
          </a:p>
        </p:txBody>
      </p:sp>
    </p:spTree>
    <p:extLst>
      <p:ext uri="{BB962C8B-B14F-4D97-AF65-F5344CB8AC3E}">
        <p14:creationId xmlns:p14="http://schemas.microsoft.com/office/powerpoint/2010/main" val="3994345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4C4AAD-BB4F-927F-24AC-3587EC47E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44" y="485483"/>
            <a:ext cx="7977388" cy="45859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5460CD-A5AD-B75C-3031-5477C73EC3CA}"/>
              </a:ext>
            </a:extLst>
          </p:cNvPr>
          <p:cNvSpPr txBox="1"/>
          <p:nvPr/>
        </p:nvSpPr>
        <p:spPr>
          <a:xfrm>
            <a:off x="0" y="1053145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analysis of 9,551 restaurants     highlights an average restaurant rating of 2.89 and an average customer voting count of 156.91 across different countries. </a:t>
            </a:r>
          </a:p>
          <a:p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D978B-806C-6652-EA7E-3CFF41FDA480}"/>
              </a:ext>
            </a:extLst>
          </p:cNvPr>
          <p:cNvSpPr txBox="1"/>
          <p:nvPr/>
        </p:nvSpPr>
        <p:spPr>
          <a:xfrm>
            <a:off x="0" y="3991704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Country-wise and year-wise analysis shows</a:t>
            </a:r>
          </a:p>
          <a:p>
            <a:r>
              <a:rPr lang="en-US" dirty="0"/>
              <a:t>       stable restaurant growth trends, with similar</a:t>
            </a:r>
          </a:p>
          <a:p>
            <a:r>
              <a:rPr lang="en-US" dirty="0"/>
              <a:t>       average ratings across most countries, reflecting</a:t>
            </a:r>
          </a:p>
          <a:p>
            <a:r>
              <a:rPr lang="en-US" dirty="0"/>
              <a:t>       consistent global dining experiences.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2C469-70C4-A3F4-C907-37EA8298BE6D}"/>
              </a:ext>
            </a:extLst>
          </p:cNvPr>
          <p:cNvSpPr txBox="1"/>
          <p:nvPr/>
        </p:nvSpPr>
        <p:spPr>
          <a:xfrm>
            <a:off x="4962378" y="3991703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Restaurants providing online delivery and table booking services received comparatively higher average ratings, indicating better customer satisfaction and convenience.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9E513-672D-108A-1504-F716A3A6F338}"/>
              </a:ext>
            </a:extLst>
          </p:cNvPr>
          <p:cNvSpPr txBox="1"/>
          <p:nvPr/>
        </p:nvSpPr>
        <p:spPr>
          <a:xfrm>
            <a:off x="0" y="2443751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North Indian cuisine emerged as the most</a:t>
            </a:r>
          </a:p>
          <a:p>
            <a:r>
              <a:rPr lang="en-US" dirty="0"/>
              <a:t>       popular cuisine category, while combinations</a:t>
            </a:r>
          </a:p>
          <a:p>
            <a:r>
              <a:rPr lang="en-US" dirty="0"/>
              <a:t>       like North Indian–Chinese and Mughlai</a:t>
            </a:r>
          </a:p>
          <a:p>
            <a:r>
              <a:rPr lang="en-US" dirty="0"/>
              <a:t>       also showed strong customer preference.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C10BE-ECAA-234E-AE3E-820C3205B4A0}"/>
              </a:ext>
            </a:extLst>
          </p:cNvPr>
          <p:cNvSpPr txBox="1"/>
          <p:nvPr/>
        </p:nvSpPr>
        <p:spPr>
          <a:xfrm>
            <a:off x="239150" y="19768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/>
              <a:t>Dashboard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0FD49E-0A5C-C1A5-701A-00167FFEA19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1144" y="753132"/>
            <a:ext cx="3214468" cy="264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87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-3686745" y="824848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38550" y="4116000"/>
            <a:ext cx="86547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C3D2E5-E2D0-C7F8-5E22-210889D29D1A}"/>
              </a:ext>
            </a:extLst>
          </p:cNvPr>
          <p:cNvSpPr txBox="1"/>
          <p:nvPr/>
        </p:nvSpPr>
        <p:spPr>
          <a:xfrm>
            <a:off x="69000" y="734539"/>
            <a:ext cx="54940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restaurant should have a clear concept</a:t>
            </a:r>
          </a:p>
          <a:p>
            <a:r>
              <a:rPr lang="en-IN" dirty="0"/>
              <a:t>        and not try to serve too many cuisines.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Location should be selected based on the</a:t>
            </a:r>
          </a:p>
          <a:p>
            <a:r>
              <a:rPr lang="en-IN" dirty="0"/>
              <a:t>       target customer group, such as students,</a:t>
            </a:r>
          </a:p>
          <a:p>
            <a:r>
              <a:rPr lang="en-IN" dirty="0"/>
              <a:t>       families, or working professionals.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Pricing should be competitive and aligned</a:t>
            </a:r>
          </a:p>
          <a:p>
            <a:r>
              <a:rPr lang="en-IN" dirty="0"/>
              <a:t>       with customer expectations in that area.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menu should be limited, focused, and</a:t>
            </a:r>
          </a:p>
          <a:p>
            <a:r>
              <a:rPr lang="en-IN" dirty="0"/>
              <a:t>        easy to execute efficiently.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Popular and high-demand cuisines should be</a:t>
            </a:r>
          </a:p>
          <a:p>
            <a:r>
              <a:rPr lang="en-IN" dirty="0"/>
              <a:t>      prioritized to attract more customers.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6660B-0B2B-9931-36EC-673BE94EF7C9}"/>
              </a:ext>
            </a:extLst>
          </p:cNvPr>
          <p:cNvSpPr txBox="1"/>
          <p:nvPr/>
        </p:nvSpPr>
        <p:spPr>
          <a:xfrm>
            <a:off x="0" y="28800"/>
            <a:ext cx="8298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Ke</a:t>
            </a:r>
            <a:r>
              <a:rPr lang="en-IN" sz="2800" b="1" dirty="0"/>
              <a:t>y Points to Open a New Restaurant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0F265-458C-072C-E508-620079E5B6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075" y="863773"/>
            <a:ext cx="4925925" cy="41857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5A156C5-8CFE-6FF0-CE4E-126695E6D479}"/>
              </a:ext>
            </a:extLst>
          </p:cNvPr>
          <p:cNvSpPr txBox="1"/>
          <p:nvPr/>
        </p:nvSpPr>
        <p:spPr>
          <a:xfrm>
            <a:off x="682859" y="913446"/>
            <a:ext cx="45720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en-GB" sz="18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Recommendations:-</a:t>
            </a:r>
            <a:endParaRPr lang="en-IN" sz="18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>
              <a:lnSpc>
                <a:spcPct val="115000"/>
              </a:lnSpc>
              <a:buNone/>
            </a:pPr>
            <a:r>
              <a:rPr lang="en-GB" dirty="0">
                <a:latin typeface="Arial" panose="020B0604020202020204" pitchFamily="34" charset="0"/>
                <a:ea typeface="Arial" panose="020B0604020202020204" pitchFamily="34" charset="0"/>
              </a:rPr>
              <a:t>  &lt;Actionable recommendations based on the insights&gt;</a:t>
            </a:r>
            <a:endParaRPr lang="en-I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ü"/>
            </a:pPr>
            <a:endParaRPr lang="en-GB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ü"/>
            </a:pPr>
            <a:endParaRPr lang="en-GB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GB" dirty="0">
                <a:latin typeface="Arial" panose="020B0604020202020204" pitchFamily="34" charset="0"/>
                <a:ea typeface="Arial" panose="020B0604020202020204" pitchFamily="34" charset="0"/>
              </a:rPr>
              <a:t>Focus expansion on high-demand cities with manageable competition levels.</a:t>
            </a:r>
            <a:endParaRPr lang="en-I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ü"/>
            </a:pPr>
            <a:endParaRPr lang="en-GB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GB" dirty="0">
                <a:latin typeface="Arial" panose="020B0604020202020204" pitchFamily="34" charset="0"/>
                <a:ea typeface="Arial" panose="020B0604020202020204" pitchFamily="34" charset="0"/>
              </a:rPr>
              <a:t>Target locations with strong customer ratings and active restaurant markets.</a:t>
            </a:r>
            <a:endParaRPr lang="en-I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ü"/>
            </a:pPr>
            <a:endParaRPr lang="en-GB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indent="-285750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GB" dirty="0">
                <a:latin typeface="Arial" panose="020B0604020202020204" pitchFamily="34" charset="0"/>
                <a:ea typeface="Arial" panose="020B0604020202020204" pitchFamily="34" charset="0"/>
              </a:rPr>
              <a:t>Introduce restaurants in cities with growing populations and purchasing power.</a:t>
            </a:r>
            <a:endParaRPr lang="en-I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>
              <a:lnSpc>
                <a:spcPct val="115000"/>
              </a:lnSpc>
            </a:pPr>
            <a:endParaRPr lang="en-I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2" name="Google Shape;167;p17">
            <a:extLst>
              <a:ext uri="{FF2B5EF4-FFF2-40B4-BE49-F238E27FC236}">
                <a16:creationId xmlns:a16="http://schemas.microsoft.com/office/drawing/2014/main" id="{AF18856E-E4D2-9B62-2C09-20E7B45E553C}"/>
              </a:ext>
            </a:extLst>
          </p:cNvPr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7915" y="3516923"/>
            <a:ext cx="2096086" cy="1626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64A2B8-04ED-8C9F-F09B-4AF105CA473D}"/>
              </a:ext>
            </a:extLst>
          </p:cNvPr>
          <p:cNvSpPr txBox="1"/>
          <p:nvPr/>
        </p:nvSpPr>
        <p:spPr>
          <a:xfrm>
            <a:off x="694800" y="718240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🧠 Conclusion Restaurant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Success depends on a combination of factors rather than a single element.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Ratings improve when there is a balance between location, pricing, menu design, cuisine selection, and service quality.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 well-planned, customer-focused, and data-driven approach increases the chances of long-term success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B3D318-062A-3CBF-9DB8-AA4F4AF237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1742" y="1188720"/>
            <a:ext cx="4051494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103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750" y="857250"/>
            <a:ext cx="60864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wt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</TotalTime>
  <Words>1213</Words>
  <Application>Microsoft Office PowerPoint</Application>
  <PresentationFormat>On-screen Show (16:9)</PresentationFormat>
  <Paragraphs>209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Lato</vt:lpstr>
      <vt:lpstr>Wingdings</vt:lpstr>
      <vt:lpstr>newton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Sunny Kumar</dc:creator>
  <cp:lastModifiedBy>Ram kumar</cp:lastModifiedBy>
  <cp:revision>15</cp:revision>
  <dcterms:modified xsi:type="dcterms:W3CDTF">2026-10-02T11:46:34Z</dcterms:modified>
</cp:coreProperties>
</file>